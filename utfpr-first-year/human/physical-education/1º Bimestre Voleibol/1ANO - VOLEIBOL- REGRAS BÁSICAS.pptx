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61" r:id="rId4"/>
    <p:sldId id="262" r:id="rId5"/>
    <p:sldId id="269" r:id="rId6"/>
    <p:sldId id="268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son CHINA hirata" userId="c79ab334c5a3af65" providerId="LiveId" clId="{AB8EC6DB-7243-4434-AE4D-3CD9B668CE80}"/>
    <pc:docChg chg="modSld">
      <pc:chgData name="edson CHINA hirata" userId="c79ab334c5a3af65" providerId="LiveId" clId="{AB8EC6DB-7243-4434-AE4D-3CD9B668CE80}" dt="2024-04-29T14:07:48.265" v="5" actId="20577"/>
      <pc:docMkLst>
        <pc:docMk/>
      </pc:docMkLst>
      <pc:sldChg chg="modSp">
        <pc:chgData name="edson CHINA hirata" userId="c79ab334c5a3af65" providerId="LiveId" clId="{AB8EC6DB-7243-4434-AE4D-3CD9B668CE80}" dt="2024-04-29T14:07:48.265" v="5" actId="20577"/>
        <pc:sldMkLst>
          <pc:docMk/>
          <pc:sldMk cId="161687981" sldId="265"/>
        </pc:sldMkLst>
        <pc:spChg chg="mod">
          <ac:chgData name="edson CHINA hirata" userId="c79ab334c5a3af65" providerId="LiveId" clId="{AB8EC6DB-7243-4434-AE4D-3CD9B668CE80}" dt="2024-04-29T14:07:48.265" v="5" actId="20577"/>
          <ac:spMkLst>
            <pc:docMk/>
            <pc:sldMk cId="161687981" sldId="265"/>
            <ac:spMk id="3" creationId="{08A6C3F8-9433-4159-AF84-2B7A3094ED3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5BD55-BE90-4DE1-B8CC-5B2B11DA3C55}" type="datetimeFigureOut">
              <a:rPr lang="pt-BR" smtClean="0"/>
              <a:t>29/04/2024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7A3CB-85E7-46BC-901E-83EB5D0232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4148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5BD55-BE90-4DE1-B8CC-5B2B11DA3C55}" type="datetimeFigureOut">
              <a:rPr lang="pt-BR" smtClean="0"/>
              <a:t>29/04/2024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7A3CB-85E7-46BC-901E-83EB5D0232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0310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5BD55-BE90-4DE1-B8CC-5B2B11DA3C55}" type="datetimeFigureOut">
              <a:rPr lang="pt-BR" smtClean="0"/>
              <a:t>29/04/2024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7A3CB-85E7-46BC-901E-83EB5D0232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1652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5BD55-BE90-4DE1-B8CC-5B2B11DA3C55}" type="datetimeFigureOut">
              <a:rPr lang="pt-BR" smtClean="0"/>
              <a:t>29/04/2024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7A3CB-85E7-46BC-901E-83EB5D0232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1695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5BD55-BE90-4DE1-B8CC-5B2B11DA3C55}" type="datetimeFigureOut">
              <a:rPr lang="pt-BR" smtClean="0"/>
              <a:t>29/04/2024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7A3CB-85E7-46BC-901E-83EB5D0232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3892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5BD55-BE90-4DE1-B8CC-5B2B11DA3C55}" type="datetimeFigureOut">
              <a:rPr lang="pt-BR" smtClean="0"/>
              <a:t>29/04/2024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7A3CB-85E7-46BC-901E-83EB5D0232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6085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5BD55-BE90-4DE1-B8CC-5B2B11DA3C55}" type="datetimeFigureOut">
              <a:rPr lang="pt-BR" smtClean="0"/>
              <a:t>29/04/2024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7A3CB-85E7-46BC-901E-83EB5D0232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8721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5BD55-BE90-4DE1-B8CC-5B2B11DA3C55}" type="datetimeFigureOut">
              <a:rPr lang="pt-BR" smtClean="0"/>
              <a:t>29/04/2024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7A3CB-85E7-46BC-901E-83EB5D0232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9993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5BD55-BE90-4DE1-B8CC-5B2B11DA3C55}" type="datetimeFigureOut">
              <a:rPr lang="pt-BR" smtClean="0"/>
              <a:t>29/04/2024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7A3CB-85E7-46BC-901E-83EB5D0232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5732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5BD55-BE90-4DE1-B8CC-5B2B11DA3C55}" type="datetimeFigureOut">
              <a:rPr lang="pt-BR" smtClean="0"/>
              <a:t>29/04/2024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7A3CB-85E7-46BC-901E-83EB5D0232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7447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5BD55-BE90-4DE1-B8CC-5B2B11DA3C55}" type="datetimeFigureOut">
              <a:rPr lang="pt-BR" smtClean="0"/>
              <a:t>29/04/2024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7A3CB-85E7-46BC-901E-83EB5D0232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37562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5BD55-BE90-4DE1-B8CC-5B2B11DA3C55}" type="datetimeFigureOut">
              <a:rPr lang="pt-BR" smtClean="0"/>
              <a:t>29/04/2024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7A3CB-85E7-46BC-901E-83EB5D023211}" type="slidenum">
              <a:rPr lang="pt-BR" smtClean="0"/>
              <a:t>‹nº›</a:t>
            </a:fld>
            <a:endParaRPr lang="pt-BR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305631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5BD55-BE90-4DE1-B8CC-5B2B11DA3C55}" type="datetimeFigureOut">
              <a:rPr lang="pt-BR" smtClean="0"/>
              <a:t>29/04/2024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7A3CB-85E7-46BC-901E-83EB5D0232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80601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5BD55-BE90-4DE1-B8CC-5B2B11DA3C55}" type="datetimeFigureOut">
              <a:rPr lang="pt-BR" smtClean="0"/>
              <a:t>29/04/2024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7A3CB-85E7-46BC-901E-83EB5D0232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01639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5BD55-BE90-4DE1-B8CC-5B2B11DA3C55}" type="datetimeFigureOut">
              <a:rPr lang="pt-BR" smtClean="0"/>
              <a:t>29/04/2024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7A3CB-85E7-46BC-901E-83EB5D0232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54523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5BD55-BE90-4DE1-B8CC-5B2B11DA3C55}" type="datetimeFigureOut">
              <a:rPr lang="pt-BR" smtClean="0"/>
              <a:t>29/04/2024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7A3CB-85E7-46BC-901E-83EB5D0232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77521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5BD55-BE90-4DE1-B8CC-5B2B11DA3C55}" type="datetimeFigureOut">
              <a:rPr lang="pt-BR" smtClean="0"/>
              <a:t>29/04/2024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7A3CB-85E7-46BC-901E-83EB5D0232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0199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E42D95-9E80-4ACE-98C6-57D5BC0FB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079B567-88CC-479D-86C3-E09A192FB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515758-7D0A-4952-8947-479FF9966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5BD55-BE90-4DE1-B8CC-5B2B11DA3C55}" type="datetimeFigureOut">
              <a:rPr lang="pt-BR" smtClean="0"/>
              <a:t>29/04/2024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879B874-8372-4A93-9D0B-C00E42965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42F734D-B951-4AC3-9476-E0BDDB170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7A3CB-85E7-46BC-901E-83EB5D0232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5761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3A45BD55-BE90-4DE1-B8CC-5B2B11DA3C55}" type="datetimeFigureOut">
              <a:rPr lang="pt-BR" smtClean="0"/>
              <a:t>29/04/2024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F47A3CB-85E7-46BC-901E-83EB5D0232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954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.pn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sultado de imagem para VOLEIBOL BRASIL">
            <a:extLst>
              <a:ext uri="{FF2B5EF4-FFF2-40B4-BE49-F238E27FC236}">
                <a16:creationId xmlns:a16="http://schemas.microsoft.com/office/drawing/2014/main" id="{4B2C2049-EE97-4B13-B24B-569FAACB5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2000" cy="6677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Regras fiscais em Evolução no Brasil">
            <a:extLst>
              <a:ext uri="{FF2B5EF4-FFF2-40B4-BE49-F238E27FC236}">
                <a16:creationId xmlns:a16="http://schemas.microsoft.com/office/drawing/2014/main" id="{21EC4FAC-D34C-49A6-937F-8B93EE8849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7070" y="1960789"/>
            <a:ext cx="5285558" cy="2936421"/>
          </a:xfrm>
          <a:prstGeom prst="rect">
            <a:avLst/>
          </a:prstGeom>
          <a:noFill/>
          <a:effectLst>
            <a:softEdge rad="635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1254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bg1">
                <a:shade val="92000"/>
                <a:satMod val="140000"/>
                <a:lumMod val="11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9C15D4-2EE7-4D05-B87C-91D1F3B96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5" y="0"/>
            <a:ext cx="813206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D7B0FB-9654-4441-9545-02D458B68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935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127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2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48DD689-BC77-46B2-A187-CCBA333EA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074" y="1588878"/>
            <a:ext cx="2844002" cy="3680244"/>
          </a:xfrm>
        </p:spPr>
        <p:txBody>
          <a:bodyPr>
            <a:normAutofit/>
          </a:bodyPr>
          <a:lstStyle/>
          <a:p>
            <a:pPr algn="l"/>
            <a:r>
              <a:rPr lang="pt-BR" sz="4400" b="1" dirty="0">
                <a:solidFill>
                  <a:srgbClr val="FFFFFF"/>
                </a:solidFill>
              </a:rPr>
              <a:t>VOLEIBOL – REGRAS</a:t>
            </a:r>
            <a:br>
              <a:rPr lang="pt-BR" sz="4400" b="1" dirty="0">
                <a:solidFill>
                  <a:srgbClr val="FFFFFF"/>
                </a:solidFill>
              </a:rPr>
            </a:br>
            <a:br>
              <a:rPr lang="pt-BR" sz="4400" b="1" dirty="0">
                <a:solidFill>
                  <a:srgbClr val="FFFFFF"/>
                </a:solidFill>
              </a:rPr>
            </a:br>
            <a:r>
              <a:rPr lang="pt-BR" sz="4400" dirty="0">
                <a:solidFill>
                  <a:srgbClr val="FFFFFF"/>
                </a:solidFill>
              </a:rPr>
              <a:t>Objetivo do jogo: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BB94C57-FDF3-45A3-9D1F-904523D79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700" b="77917"/>
          <a:stretch/>
        </p:blipFill>
        <p:spPr>
          <a:xfrm>
            <a:off x="0" y="0"/>
            <a:ext cx="4059935" cy="1514475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FE7AC3-8602-46B8-9419-80414D17F5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4794" y="1049695"/>
            <a:ext cx="6642806" cy="4758611"/>
          </a:xfrm>
        </p:spPr>
        <p:txBody>
          <a:bodyPr anchor="ctr">
            <a:normAutofit/>
          </a:bodyPr>
          <a:lstStyle/>
          <a:p>
            <a:r>
              <a:rPr lang="pt-BR" sz="2400" dirty="0"/>
              <a:t>DERRUBAR A BOLA NO CAMPO ADVERSÁRIO</a:t>
            </a:r>
          </a:p>
          <a:p>
            <a:r>
              <a:rPr lang="pt-BR" sz="2400" dirty="0"/>
              <a:t>ADVERSÁRIO TOCAR NA BOLA ANTES DELA SAIR DO CAMPO</a:t>
            </a:r>
          </a:p>
          <a:p>
            <a:r>
              <a:rPr lang="pt-BR" sz="2400" dirty="0"/>
              <a:t>ADVERSÁRIO INFRINGIR UMA REGRA</a:t>
            </a:r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AEBDF1A-221A-4497-BBA9-57A70D161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50" t="72830" b="14149"/>
          <a:stretch/>
        </p:blipFill>
        <p:spPr>
          <a:xfrm>
            <a:off x="1377059" y="5962903"/>
            <a:ext cx="2590800" cy="89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649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bg1">
                <a:shade val="92000"/>
                <a:satMod val="140000"/>
                <a:lumMod val="11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9C15D4-2EE7-4D05-B87C-91D1F3B96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5" y="0"/>
            <a:ext cx="813206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D7B0FB-9654-4441-9545-02D458B68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935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127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2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8295671-F5A8-4A54-B3EC-D44C3DA7B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074" y="1588878"/>
            <a:ext cx="2844002" cy="3680244"/>
          </a:xfrm>
        </p:spPr>
        <p:txBody>
          <a:bodyPr>
            <a:normAutofit/>
          </a:bodyPr>
          <a:lstStyle/>
          <a:p>
            <a:pPr algn="l"/>
            <a:r>
              <a:rPr lang="pt-BR" sz="3400" b="1">
                <a:solidFill>
                  <a:srgbClr val="FFFFFF"/>
                </a:solidFill>
              </a:rPr>
              <a:t>PONTUAÇÃO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BB94C57-FDF3-45A3-9D1F-904523D79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700" b="77917"/>
          <a:stretch/>
        </p:blipFill>
        <p:spPr>
          <a:xfrm>
            <a:off x="0" y="0"/>
            <a:ext cx="4059935" cy="1514475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BDFFAE-7AA3-46B8-8F37-993838AA4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4794" y="1049695"/>
            <a:ext cx="6642806" cy="4758611"/>
          </a:xfrm>
        </p:spPr>
        <p:txBody>
          <a:bodyPr anchor="ctr">
            <a:normAutofit/>
          </a:bodyPr>
          <a:lstStyle/>
          <a:p>
            <a:r>
              <a:rPr lang="pt-BR" sz="2400" dirty="0"/>
              <a:t>O que é SET?</a:t>
            </a:r>
          </a:p>
          <a:p>
            <a:pPr marL="0" indent="0">
              <a:buNone/>
            </a:pPr>
            <a:r>
              <a:rPr lang="pt-BR" sz="2400" dirty="0"/>
              <a:t>Conjunto de 25 PONTOS com DIFERENÇA DE 2 PONTOS</a:t>
            </a:r>
          </a:p>
          <a:p>
            <a:r>
              <a:rPr lang="pt-BR" sz="2400" dirty="0"/>
              <a:t>MELHOR DE 3 OU MELHOR DE 5</a:t>
            </a:r>
          </a:p>
          <a:p>
            <a:r>
              <a:rPr lang="pt-BR" sz="2400" dirty="0"/>
              <a:t>TIE BREAK – 15 PONTOS</a:t>
            </a:r>
          </a:p>
          <a:p>
            <a:endParaRPr lang="pt-BR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AEBDF1A-221A-4497-BBA9-57A70D161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50" t="72830" b="14149"/>
          <a:stretch/>
        </p:blipFill>
        <p:spPr>
          <a:xfrm>
            <a:off x="1377059" y="5962903"/>
            <a:ext cx="2590800" cy="89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815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4D4DD4CF-9732-4771-98FE-77886DC91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3" name="Picture 2">
            <a:extLst>
              <a:ext uri="{FF2B5EF4-FFF2-40B4-BE49-F238E27FC236}">
                <a16:creationId xmlns:a16="http://schemas.microsoft.com/office/drawing/2014/main" id="{0917E639-5738-4605-929E-122219831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F683EF9-25C9-4523-BE1C-E6F774174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3" y="640831"/>
            <a:ext cx="3352128" cy="1573863"/>
          </a:xfrm>
        </p:spPr>
        <p:txBody>
          <a:bodyPr>
            <a:normAutofit/>
          </a:bodyPr>
          <a:lstStyle/>
          <a:p>
            <a:pPr algn="l"/>
            <a:r>
              <a:rPr lang="pt-BR" b="1" dirty="0"/>
              <a:t>JOGADORES E SUBSTITUIÇÕES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3B211D-CE76-47EE-ABD2-C7C4FB15A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3" y="2367092"/>
            <a:ext cx="3352128" cy="3881309"/>
          </a:xfrm>
        </p:spPr>
        <p:txBody>
          <a:bodyPr>
            <a:normAutofit/>
          </a:bodyPr>
          <a:lstStyle/>
          <a:p>
            <a:r>
              <a:rPr lang="pt-BR" sz="2400" dirty="0"/>
              <a:t>06 JOGADORES TITULARES</a:t>
            </a:r>
          </a:p>
          <a:p>
            <a:r>
              <a:rPr lang="pt-BR" sz="2400" dirty="0"/>
              <a:t>01 LÍBERO – FUNÇÃO DELE E CARACTERÍSTICA</a:t>
            </a:r>
          </a:p>
          <a:p>
            <a:r>
              <a:rPr lang="pt-BR" sz="2400" dirty="0"/>
              <a:t>06 SUBSTITUIÇÕES – LÍBERO E DEMAIS</a:t>
            </a:r>
          </a:p>
          <a:p>
            <a:endParaRPr lang="pt-BR" sz="1800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A2861A9C-C970-4FFE-B67C-222B6F5732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1525" y="-2"/>
            <a:ext cx="81313" cy="6858002"/>
          </a:xfrm>
          <a:prstGeom prst="rect">
            <a:avLst/>
          </a:prstGeom>
          <a:gradFill flip="none" rotWithShape="1">
            <a:gsLst>
              <a:gs pos="84000">
                <a:srgbClr val="B5B5B5"/>
              </a:gs>
              <a:gs pos="60159">
                <a:srgbClr val="D5D5D5"/>
              </a:gs>
              <a:gs pos="50447">
                <a:srgbClr val="E6E6E6"/>
              </a:gs>
              <a:gs pos="44260">
                <a:srgbClr val="D5D5D5"/>
              </a:gs>
              <a:gs pos="15928">
                <a:srgbClr val="B5B5B5"/>
              </a:gs>
              <a:gs pos="7000">
                <a:srgbClr val="8A8A8A"/>
              </a:gs>
              <a:gs pos="0">
                <a:srgbClr val="BBBBBB"/>
              </a:gs>
              <a:gs pos="93000">
                <a:srgbClr val="8A8A8A"/>
              </a:gs>
              <a:gs pos="100000">
                <a:srgbClr val="BBBBB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SUBSTITUIÇÃO NO VOLEIBOL | Voleibol, Treino de voleibol, Historia do  voleibol">
            <a:extLst>
              <a:ext uri="{FF2B5EF4-FFF2-40B4-BE49-F238E27FC236}">
                <a16:creationId xmlns:a16="http://schemas.microsoft.com/office/drawing/2014/main" id="{F8F28707-03B0-4742-8D06-95903D9AF2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183" b="2"/>
          <a:stretch/>
        </p:blipFill>
        <p:spPr bwMode="auto">
          <a:xfrm>
            <a:off x="4712842" y="10"/>
            <a:ext cx="7479157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D2FDF82E-EBD8-4EC5-AD10-CD9E70EE8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50"/>
          <a:stretch/>
        </p:blipFill>
        <p:spPr>
          <a:xfrm>
            <a:off x="4651242" y="0"/>
            <a:ext cx="75407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194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>
            <a:extLst>
              <a:ext uri="{FF2B5EF4-FFF2-40B4-BE49-F238E27FC236}">
                <a16:creationId xmlns:a16="http://schemas.microsoft.com/office/drawing/2014/main" id="{25496B42-CC46-4183-B481-887CD3E8C7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E2758CE0-F916-4DCE-88D1-71430BE44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7E2BA2D5-46A3-46C0-98C9-A072D543B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3573895B-DA42-4260-AE1E-182BA4123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26" name="Picture 2" descr="Líbero (voleibol) – Wikipédia, a enciclopédia livre">
            <a:extLst>
              <a:ext uri="{FF2B5EF4-FFF2-40B4-BE49-F238E27FC236}">
                <a16:creationId xmlns:a16="http://schemas.microsoft.com/office/drawing/2014/main" id="{C37A7AD1-ACFC-4A19-AE69-1B5A71242E7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52" r="3908" b="-3"/>
          <a:stretch/>
        </p:blipFill>
        <p:spPr bwMode="auto">
          <a:xfrm>
            <a:off x="1020480" y="957486"/>
            <a:ext cx="5881712" cy="4940394"/>
          </a:xfrm>
          <a:prstGeom prst="roundRect">
            <a:avLst>
              <a:gd name="adj" fmla="val 530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001D588-7B83-4CD4-A5A4-C872ECE1B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0382" y="957486"/>
            <a:ext cx="3707844" cy="313191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O líbero</a:t>
            </a:r>
          </a:p>
        </p:txBody>
      </p:sp>
    </p:spTree>
    <p:extLst>
      <p:ext uri="{BB962C8B-B14F-4D97-AF65-F5344CB8AC3E}">
        <p14:creationId xmlns:p14="http://schemas.microsoft.com/office/powerpoint/2010/main" val="2418135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8DABDCBA-3483-4395-986B-AF2A223F69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7" name="Picture 2">
            <a:extLst>
              <a:ext uri="{FF2B5EF4-FFF2-40B4-BE49-F238E27FC236}">
                <a16:creationId xmlns:a16="http://schemas.microsoft.com/office/drawing/2014/main" id="{E5DDAE72-2BA0-4D3D-A316-7BF1A514B7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9" name="Rounded Rectangle 13">
            <a:extLst>
              <a:ext uri="{FF2B5EF4-FFF2-40B4-BE49-F238E27FC236}">
                <a16:creationId xmlns:a16="http://schemas.microsoft.com/office/drawing/2014/main" id="{33BF4D06-C597-4628-9BFD-13DE07044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3" y="635245"/>
            <a:ext cx="6909478" cy="5613156"/>
          </a:xfrm>
          <a:prstGeom prst="roundRect">
            <a:avLst>
              <a:gd name="adj" fmla="val 2274"/>
            </a:avLst>
          </a:prstGeom>
          <a:solidFill>
            <a:srgbClr val="FFFFFF"/>
          </a:solidFill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6" name="Picture 4" descr="Melhores atacantes da primeira fase do Mundial de Vôlei">
            <a:extLst>
              <a:ext uri="{FF2B5EF4-FFF2-40B4-BE49-F238E27FC236}">
                <a16:creationId xmlns:a16="http://schemas.microsoft.com/office/drawing/2014/main" id="{1EF703D0-1261-4D76-9EFE-B253429ADA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7186" y="1013229"/>
            <a:ext cx="3209144" cy="2118035"/>
          </a:xfrm>
          <a:prstGeom prst="roundRect">
            <a:avLst>
              <a:gd name="adj" fmla="val 0"/>
            </a:avLst>
          </a:prstGeom>
          <a:noFill/>
          <a:ln w="82550" cap="sq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Líbero no vôlei: função, o que pode e o que não pode fazer">
            <a:extLst>
              <a:ext uri="{FF2B5EF4-FFF2-40B4-BE49-F238E27FC236}">
                <a16:creationId xmlns:a16="http://schemas.microsoft.com/office/drawing/2014/main" id="{BFB56E0D-BB53-4DFD-B002-9AD2B04F2D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7186" y="3725476"/>
            <a:ext cx="3209144" cy="2142103"/>
          </a:xfrm>
          <a:prstGeom prst="roundRect">
            <a:avLst>
              <a:gd name="adj" fmla="val 0"/>
            </a:avLst>
          </a:prstGeom>
          <a:noFill/>
          <a:ln w="82550" cap="sq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Vôlei Taubaté anuncia a contratação do levantador Bruninho | vôlei | ge">
            <a:extLst>
              <a:ext uri="{FF2B5EF4-FFF2-40B4-BE49-F238E27FC236}">
                <a16:creationId xmlns:a16="http://schemas.microsoft.com/office/drawing/2014/main" id="{5BB980CD-967C-44B1-B2ED-B89D929E36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180059" y="2370767"/>
            <a:ext cx="3209153" cy="2142109"/>
          </a:xfrm>
          <a:prstGeom prst="roundRect">
            <a:avLst>
              <a:gd name="adj" fmla="val 0"/>
            </a:avLst>
          </a:prstGeom>
          <a:noFill/>
          <a:ln w="82550" cap="sq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B92E0FD1-8437-4082-8DD6-4623B4D0C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4193219-C201-4007-9795-2A80A4151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6408" y="640831"/>
            <a:ext cx="3352128" cy="1573863"/>
          </a:xfrm>
        </p:spPr>
        <p:txBody>
          <a:bodyPr>
            <a:normAutofit/>
          </a:bodyPr>
          <a:lstStyle/>
          <a:p>
            <a:pPr algn="l"/>
            <a:r>
              <a:rPr lang="pt-BR" sz="3200" b="1" dirty="0"/>
              <a:t>POSIÇÕES NO VOLEIBOL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9B48B6-F264-44EE-8E10-BC7E42D63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6408" y="2367092"/>
            <a:ext cx="3352128" cy="3881309"/>
          </a:xfrm>
        </p:spPr>
        <p:txBody>
          <a:bodyPr>
            <a:normAutofit/>
          </a:bodyPr>
          <a:lstStyle/>
          <a:p>
            <a:r>
              <a:rPr lang="pt-BR" sz="2400" dirty="0"/>
              <a:t>LEVANTADOR</a:t>
            </a:r>
          </a:p>
          <a:p>
            <a:r>
              <a:rPr lang="pt-BR" sz="2400" dirty="0"/>
              <a:t>ATACANTE (MEIO/PONTA/OPOSTO)</a:t>
            </a:r>
          </a:p>
          <a:p>
            <a:r>
              <a:rPr lang="pt-BR" sz="2400" dirty="0"/>
              <a:t>LÍBERO</a:t>
            </a:r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937781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162540-F52B-4DCE-97D8-5D4B4027C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157" y="170351"/>
            <a:ext cx="10178322" cy="651285"/>
          </a:xfrm>
        </p:spPr>
        <p:txBody>
          <a:bodyPr/>
          <a:lstStyle/>
          <a:p>
            <a:r>
              <a:rPr lang="pt-BR" b="1" dirty="0"/>
              <a:t>A QUADRA DE JOGO</a:t>
            </a:r>
          </a:p>
        </p:txBody>
      </p:sp>
      <p:pic>
        <p:nvPicPr>
          <p:cNvPr id="1026" name="Picture 2" descr="Resultado de imagem para QUADRA DE VOLEIBOL">
            <a:extLst>
              <a:ext uri="{FF2B5EF4-FFF2-40B4-BE49-F238E27FC236}">
                <a16:creationId xmlns:a16="http://schemas.microsoft.com/office/drawing/2014/main" id="{DD799973-C53E-4DC3-9D9F-150B848FD0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2192" y="1003527"/>
            <a:ext cx="8992252" cy="5341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B14285C9-D8C2-43BA-AE79-7FC89213C4CE}"/>
              </a:ext>
            </a:extLst>
          </p:cNvPr>
          <p:cNvCxnSpPr>
            <a:cxnSpLocks/>
          </p:cNvCxnSpPr>
          <p:nvPr/>
        </p:nvCxnSpPr>
        <p:spPr>
          <a:xfrm flipH="1" flipV="1">
            <a:off x="3882887" y="3031434"/>
            <a:ext cx="689113" cy="397566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F0AA4E41-ECB2-4B26-BEB0-FAA2A4FBA239}"/>
              </a:ext>
            </a:extLst>
          </p:cNvPr>
          <p:cNvCxnSpPr>
            <a:cxnSpLocks/>
          </p:cNvCxnSpPr>
          <p:nvPr/>
        </p:nvCxnSpPr>
        <p:spPr>
          <a:xfrm flipH="1" flipV="1">
            <a:off x="7361583" y="4840356"/>
            <a:ext cx="689113" cy="397566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4859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5D0B21-0A55-482C-A1EF-31A0907F9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b="1" dirty="0"/>
              <a:t>O RODÍZIO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829F0F4-AFA2-48E0-82EE-0A264970B0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090563"/>
            <a:ext cx="10178322" cy="3593591"/>
          </a:xfrm>
        </p:spPr>
        <p:txBody>
          <a:bodyPr/>
          <a:lstStyle/>
          <a:p>
            <a:r>
              <a:rPr lang="pt-BR" sz="2400" dirty="0"/>
              <a:t>QUANDO TEM RODÍZIO?</a:t>
            </a:r>
          </a:p>
          <a:p>
            <a:r>
              <a:rPr lang="pt-BR" sz="2400" dirty="0"/>
              <a:t>SENTIDO HORÁRIO</a:t>
            </a:r>
          </a:p>
          <a:p>
            <a:endParaRPr lang="pt-BR" dirty="0"/>
          </a:p>
          <a:p>
            <a:endParaRPr lang="pt-BR" dirty="0"/>
          </a:p>
        </p:txBody>
      </p:sp>
      <p:pic>
        <p:nvPicPr>
          <p:cNvPr id="2050" name="Picture 2" descr="Resultado de imagem para QUADRA DE VOLEIBOL">
            <a:extLst>
              <a:ext uri="{FF2B5EF4-FFF2-40B4-BE49-F238E27FC236}">
                <a16:creationId xmlns:a16="http://schemas.microsoft.com/office/drawing/2014/main" id="{2905370F-EC41-456C-8D6D-79AD91DFF6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3235" y="19887"/>
            <a:ext cx="5889859" cy="6838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2313792D-D897-4561-931E-C6BD6B2F794C}"/>
              </a:ext>
            </a:extLst>
          </p:cNvPr>
          <p:cNvSpPr/>
          <p:nvPr/>
        </p:nvSpPr>
        <p:spPr>
          <a:xfrm flipV="1">
            <a:off x="9104243" y="3815566"/>
            <a:ext cx="463826" cy="26723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8CC3F3D4-11FB-4AFC-9376-9FF72B7D2068}"/>
              </a:ext>
            </a:extLst>
          </p:cNvPr>
          <p:cNvSpPr/>
          <p:nvPr/>
        </p:nvSpPr>
        <p:spPr>
          <a:xfrm flipV="1">
            <a:off x="8236226" y="3815566"/>
            <a:ext cx="463826" cy="26723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A06D2F66-8CDE-4B76-AEF1-0DAF21626E85}"/>
              </a:ext>
            </a:extLst>
          </p:cNvPr>
          <p:cNvSpPr/>
          <p:nvPr/>
        </p:nvSpPr>
        <p:spPr>
          <a:xfrm rot="5400000" flipV="1">
            <a:off x="9607825" y="4742090"/>
            <a:ext cx="463826" cy="26723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65D0FCA3-F094-47DC-B5C0-0D1AAF7D5AB1}"/>
              </a:ext>
            </a:extLst>
          </p:cNvPr>
          <p:cNvSpPr/>
          <p:nvPr/>
        </p:nvSpPr>
        <p:spPr>
          <a:xfrm rot="10800000" flipV="1">
            <a:off x="8236226" y="5416923"/>
            <a:ext cx="463826" cy="26723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Seta: para a Direita 8">
            <a:extLst>
              <a:ext uri="{FF2B5EF4-FFF2-40B4-BE49-F238E27FC236}">
                <a16:creationId xmlns:a16="http://schemas.microsoft.com/office/drawing/2014/main" id="{456F1480-BA52-4341-8368-07BECB9E3CBE}"/>
              </a:ext>
            </a:extLst>
          </p:cNvPr>
          <p:cNvSpPr/>
          <p:nvPr/>
        </p:nvSpPr>
        <p:spPr>
          <a:xfrm rot="10800000" flipV="1">
            <a:off x="9104243" y="5416923"/>
            <a:ext cx="463826" cy="26723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Seta: para a Direita 9">
            <a:extLst>
              <a:ext uri="{FF2B5EF4-FFF2-40B4-BE49-F238E27FC236}">
                <a16:creationId xmlns:a16="http://schemas.microsoft.com/office/drawing/2014/main" id="{50EA753E-0BED-45B9-B63C-1FA18D8F12F4}"/>
              </a:ext>
            </a:extLst>
          </p:cNvPr>
          <p:cNvSpPr/>
          <p:nvPr/>
        </p:nvSpPr>
        <p:spPr>
          <a:xfrm rot="16200000" flipV="1">
            <a:off x="7752522" y="4742090"/>
            <a:ext cx="463826" cy="26723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3678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bg1">
                <a:shade val="92000"/>
                <a:satMod val="140000"/>
                <a:lumMod val="11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9C15D4-2EE7-4D05-B87C-91D1F3B96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5" y="0"/>
            <a:ext cx="813206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D7B0FB-9654-4441-9545-02D458B68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935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127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2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278109D-FDE5-4C88-A36A-46ED49B74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074" y="1588878"/>
            <a:ext cx="2844002" cy="3680244"/>
          </a:xfrm>
        </p:spPr>
        <p:txBody>
          <a:bodyPr>
            <a:normAutofit/>
          </a:bodyPr>
          <a:lstStyle/>
          <a:p>
            <a:pPr algn="l"/>
            <a:r>
              <a:rPr lang="pt-BR" sz="4100" b="1" dirty="0">
                <a:solidFill>
                  <a:srgbClr val="FFFFFF"/>
                </a:solidFill>
              </a:rPr>
              <a:t>INFRAÇÕES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BB94C57-FDF3-45A3-9D1F-904523D79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700" b="77917"/>
          <a:stretch/>
        </p:blipFill>
        <p:spPr>
          <a:xfrm>
            <a:off x="0" y="0"/>
            <a:ext cx="4059935" cy="1514475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A6C3F8-9433-4159-AF84-2B7A3094E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4794" y="1049695"/>
            <a:ext cx="6642806" cy="4758611"/>
          </a:xfrm>
        </p:spPr>
        <p:txBody>
          <a:bodyPr anchor="ctr">
            <a:normAutofit/>
          </a:bodyPr>
          <a:lstStyle/>
          <a:p>
            <a:r>
              <a:rPr lang="pt-BR" sz="2400" dirty="0"/>
              <a:t>4 TOQUES - *EXCEÇÃO</a:t>
            </a:r>
          </a:p>
          <a:p>
            <a:r>
              <a:rPr lang="pt-BR" sz="2400" dirty="0"/>
              <a:t>2 TOQUES - *EXCEÇÃO</a:t>
            </a:r>
          </a:p>
          <a:p>
            <a:r>
              <a:rPr lang="pt-BR" sz="2400" dirty="0"/>
              <a:t>CONDUÇÃO</a:t>
            </a:r>
          </a:p>
          <a:p>
            <a:r>
              <a:rPr lang="pt-BR" sz="2400" dirty="0"/>
              <a:t>TOCAR NA REDE (INVASÃO) – </a:t>
            </a:r>
          </a:p>
          <a:p>
            <a:r>
              <a:rPr lang="pt-BR" sz="2400" dirty="0"/>
              <a:t>INVASÃO POR CIMA E POR BAIXO</a:t>
            </a:r>
          </a:p>
          <a:p>
            <a:r>
              <a:rPr lang="pt-BR" sz="2400" dirty="0"/>
              <a:t>INVASÃO NO ATAQUE DO FUNDO/saque</a:t>
            </a:r>
          </a:p>
          <a:p>
            <a:r>
              <a:rPr lang="pt-BR" sz="2400" dirty="0"/>
              <a:t>RODÍZIO INCORRETO</a:t>
            </a:r>
          </a:p>
          <a:p>
            <a:endParaRPr lang="pt-BR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AEBDF1A-221A-4497-BBA9-57A70D161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50" t="72830" b="14149"/>
          <a:stretch/>
        </p:blipFill>
        <p:spPr>
          <a:xfrm>
            <a:off x="1377059" y="5962903"/>
            <a:ext cx="2590800" cy="89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87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Gotícula">
  <a:themeElements>
    <a:clrScheme name="Gotícula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Gotícula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otícula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Gotícula</Template>
  <TotalTime>2927</TotalTime>
  <Words>135</Words>
  <Application>Microsoft Office PowerPoint</Application>
  <PresentationFormat>Widescreen</PresentationFormat>
  <Paragraphs>30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2" baseType="lpstr">
      <vt:lpstr>Arial</vt:lpstr>
      <vt:lpstr>Tw Cen MT</vt:lpstr>
      <vt:lpstr>Gotícula</vt:lpstr>
      <vt:lpstr>Apresentação do PowerPoint</vt:lpstr>
      <vt:lpstr>VOLEIBOL – REGRAS  Objetivo do jogo:</vt:lpstr>
      <vt:lpstr>PONTUAÇÃO</vt:lpstr>
      <vt:lpstr>JOGADORES E SUBSTITUIÇÕES</vt:lpstr>
      <vt:lpstr>O líbero</vt:lpstr>
      <vt:lpstr>POSIÇÕES NO VOLEIBOL</vt:lpstr>
      <vt:lpstr>A QUADRA DE JOGO</vt:lpstr>
      <vt:lpstr>O RODÍZIO</vt:lpstr>
      <vt:lpstr>INFRAÇÕES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VOLEIBOL</dc:title>
  <dc:creator>Edson China Hirata</dc:creator>
  <cp:lastModifiedBy>edson CHINA hirata</cp:lastModifiedBy>
  <cp:revision>17</cp:revision>
  <dcterms:created xsi:type="dcterms:W3CDTF">2021-02-20T16:26:34Z</dcterms:created>
  <dcterms:modified xsi:type="dcterms:W3CDTF">2024-04-29T14:11:39Z</dcterms:modified>
</cp:coreProperties>
</file>